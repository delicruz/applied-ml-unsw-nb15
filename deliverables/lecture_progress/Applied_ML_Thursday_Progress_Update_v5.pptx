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8edfed80bf4352" /><Relationship Type="http://schemas.openxmlformats.org/officeDocument/2006/relationships/extended-properties" Target="/docProps/app.xml" Id="Rb184d28ee5654815" /><Relationship Type="http://schemas.openxmlformats.org/officeDocument/2006/relationships/officeDocument" Target="/ppt/presentation.xml" Id="Rd871c7f0861a44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f74140b85c448f"/>
  </p:sldMasterIdLst>
  <p:notesMasterIdLst>
    <p:notesMasterId xmlns:r="http://schemas.openxmlformats.org/officeDocument/2006/relationships" r:id="Rf3d29743f8be4fd0"/>
  </p:notesMasterIdLst>
  <p:sldIdLst>
    <p:sldId xmlns:r="http://schemas.openxmlformats.org/officeDocument/2006/relationships" id="256" r:id="R2510da943a9944b2"/>
    <p:sldId xmlns:r="http://schemas.openxmlformats.org/officeDocument/2006/relationships" id="257" r:id="R4af9813e1e174939"/>
    <p:sldId xmlns:r="http://schemas.openxmlformats.org/officeDocument/2006/relationships" id="258" r:id="R41acc5747d90443b"/>
    <p:sldId xmlns:r="http://schemas.openxmlformats.org/officeDocument/2006/relationships" id="259" r:id="R5fc6bd3aaeb8493c"/>
    <p:sldId xmlns:r="http://schemas.openxmlformats.org/officeDocument/2006/relationships" id="260" r:id="R660cbe3cdca24c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9c768fc6c34d74" /><Relationship Type="http://schemas.openxmlformats.org/officeDocument/2006/relationships/slideMaster" Target="/ppt/slideMasters/slideMaster1.xml" Id="R19f74140b85c448f" /><Relationship Type="http://schemas.openxmlformats.org/officeDocument/2006/relationships/notesMaster" Target="/ppt/notesMasters/notesMaster1.xml" Id="Rf3d29743f8be4fd0" /><Relationship Type="http://schemas.openxmlformats.org/officeDocument/2006/relationships/presProps" Target="/ppt/presProps.xml" Id="Re2a3a4a2911b40f8" /><Relationship Type="http://schemas.openxmlformats.org/officeDocument/2006/relationships/tableStyles" Target="/ppt/tableStyles.xml" Id="R16b84f01843944e7" /><Relationship Type="http://schemas.openxmlformats.org/officeDocument/2006/relationships/slide" Target="/ppt/slides/slide1.xml" Id="R2510da943a9944b2" /><Relationship Type="http://schemas.openxmlformats.org/officeDocument/2006/relationships/slide" Target="/ppt/slides/slide2.xml" Id="R4af9813e1e174939" /><Relationship Type="http://schemas.openxmlformats.org/officeDocument/2006/relationships/slide" Target="/ppt/slides/slide3.xml" Id="R41acc5747d90443b" /><Relationship Type="http://schemas.openxmlformats.org/officeDocument/2006/relationships/slide" Target="/ppt/slides/slide4.xml" Id="R5fc6bd3aaeb8493c" /><Relationship Type="http://schemas.openxmlformats.org/officeDocument/2006/relationships/slide" Target="/ppt/slides/slide5.xml" Id="R660cbe3cdca24c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25340b4dcd49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8f46c2529143b4" /><Relationship Type="http://schemas.openxmlformats.org/officeDocument/2006/relationships/notesMaster" Target="/ppt/notesMasters/notesMaster1.xml" Id="R698bbb16463547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622f3125ac4706" /><Relationship Type="http://schemas.openxmlformats.org/officeDocument/2006/relationships/notesMaster" Target="/ppt/notesMasters/notesMaster1.xml" Id="R36f29844de1040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c0db3d74e64a0c" /><Relationship Type="http://schemas.openxmlformats.org/officeDocument/2006/relationships/notesMaster" Target="/ppt/notesMasters/notesMaster1.xml" Id="R75ccf083e3c244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3ef2fb79684ebe" /><Relationship Type="http://schemas.openxmlformats.org/officeDocument/2006/relationships/notesMaster" Target="/ppt/notesMasters/notesMaster1.xml" Id="R3a4b650844f240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22cb6300a74558" /><Relationship Type="http://schemas.openxmlformats.org/officeDocument/2006/relationships/notesMaster" Target="/ppt/notesMasters/notesMaster1.xml" Id="R02ed697efb224c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give a concise status update for the Thursday lecture. The project is complete as a research prototype, but no cross-domain model has been selected. Source: deliverables/final_research_prototype/Project_Final_Status.md.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Completed features include ingestion, audit, grouped splitting, source-only preprocessing, model baselines, threshold selection, explainability, overfitting diagnostics, shortcut removal, external transfer checks, Version 2 (V2) development, and Version 3 (V3) development. Time To Live is abbreviated as TTL. Source: deliverables/final_research_prototype/Project_Final_Status.md.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Random Forest without Time To Live (TTL) features achieved validation Matthews Correlation Coefficient (MCC) 0.890781 and conservative University of New South Wales Network-Based 2015 (UNSW-NB15) holdout MCC 0.746241. Frozen external transfer produced MCC -0.152427 on the NetFlow Telemetry of Network Internet of Things dataset (NF-ToN-IoT) and -0.011702 on the NetFlow Botnet Internet of Things dataset (NF-BoT-IoT). The NetFlow Communications Security Establishment and Canadian Institute for Cybersecurity Intrusion Detection System 2018 dataset (NF-CSE-CIC-IDS2018) result was MCC 0.125934. Treat previously used external or test results as exploratory. Source: deliverables/final_research_prototype/Key_Results.csv.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Version 3 (V3) used four previously opened domains, so it is development evidence rather than a fresh test. Group capping worked, and the derived Logistic Regression (LR) improved over the matched Version 3 reference, but all candidates failed absolute gates. The table reports Matthews Correlation Coefficient (MCC), Balanced Accuracy (BA), False Positive Rate (FPR), Logistic Regression (LR), and Random Forest (RF). Source: deliverables/v3_research_prototype/V3_Group_Balanced_Development_Result.md.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lecturer feedback accepts a transparent failure to generalise as a valuable result. No new data or further tuning is required. If any previously used test set is evaluated again, label the result exploratory and avoid making a new confirmatory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caa5ad31748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6807f0bf684d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62c0b8052644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4ea19eb3e348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8ada5312e94f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dd1a0919943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6580A2-E40F-4777-8F4A-4AF5D233A4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BA3817-4974-4F9D-980F-1B9AEFF4C6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763F167-5E2B-4EBD-B81B-D00066E508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DFDAAA-AE52-4215-AD63-1D3A7270F9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9929213-19B5-46CC-8C68-6BF4DE0E19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A743CC-423A-406C-B51C-A8859FBC9E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50D0CD-DD3C-4990-B316-BB29E743C4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19785C-8AA1-45E7-BF11-8380E53794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84CBB6-612A-424B-9FA7-C6E0F8B8C1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2F20F0-28FB-4E14-A4BB-8A6FD7D0F4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8664dd0c294490" /><Relationship Type="http://schemas.openxmlformats.org/officeDocument/2006/relationships/slideLayout" Target="/ppt/slideLayouts/slideLayout1.xml" Id="R17f46a8c441c4b7a" /><Relationship Type="http://schemas.openxmlformats.org/officeDocument/2006/relationships/slideLayout" Target="/ppt/slideLayouts/slideLayout2.xml" Id="R5cd3b84acdfe469b" /><Relationship Type="http://schemas.openxmlformats.org/officeDocument/2006/relationships/slideLayout" Target="/ppt/slideLayouts/slideLayout3.xml" Id="R5822d1b9f5ad473d" /><Relationship Type="http://schemas.openxmlformats.org/officeDocument/2006/relationships/slideLayout" Target="/ppt/slideLayouts/slideLayout4.xml" Id="Rfcb8b76a9b2a41e4" /><Relationship Type="http://schemas.openxmlformats.org/officeDocument/2006/relationships/slideLayout" Target="/ppt/slideLayouts/slideLayout5.xml" Id="Ra0306287d664469b" /><Relationship Type="http://schemas.openxmlformats.org/officeDocument/2006/relationships/slideLayout" Target="/ppt/slideLayouts/slideLayout6.xml" Id="Reafa418aaa6841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f46a8c441c4b7a"/>
    <p:sldLayoutId xmlns:r="http://schemas.openxmlformats.org/officeDocument/2006/relationships" id="2147483650" r:id="R5cd3b84acdfe469b"/>
    <p:sldLayoutId xmlns:r="http://schemas.openxmlformats.org/officeDocument/2006/relationships" id="2147483651" r:id="R5822d1b9f5ad473d"/>
    <p:sldLayoutId xmlns:r="http://schemas.openxmlformats.org/officeDocument/2006/relationships" id="2147483652" r:id="Rfcb8b76a9b2a41e4"/>
    <p:sldLayoutId xmlns:r="http://schemas.openxmlformats.org/officeDocument/2006/relationships" id="2147483653" r:id="Ra0306287d664469b"/>
    <p:sldLayoutId xmlns:r="http://schemas.openxmlformats.org/officeDocument/2006/relationships" id="2147483654" r:id="Reafa418aaa6841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9c8d603053450d" /><Relationship Type="http://schemas.openxmlformats.org/officeDocument/2006/relationships/notesSlide" Target="/ppt/notesSlides/notesSlide1.xml" Id="Rd6ea9a7516a049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6905e3a7fa463d" /><Relationship Type="http://schemas.openxmlformats.org/officeDocument/2006/relationships/notesSlide" Target="/ppt/notesSlides/notesSlide2.xml" Id="Rddbb27e852a741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4c35c135544e9c" /><Relationship Type="http://schemas.openxmlformats.org/officeDocument/2006/relationships/chart" Target="/ppt/slides/charts/chart1.xml" Id="R41ccaab6eddc44ef" /><Relationship Type="http://schemas.openxmlformats.org/officeDocument/2006/relationships/notesSlide" Target="/ppt/notesSlides/notesSlide3.xml" Id="R82ac57ee6f064d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e61f3e642b4711" /><Relationship Type="http://schemas.openxmlformats.org/officeDocument/2006/relationships/notesSlide" Target="/ppt/notesSlides/notesSlide4.xml" Id="R368f46c6bd054f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c2236460074517" /><Relationship Type="http://schemas.openxmlformats.org/officeDocument/2006/relationships/notesSlide" Target="/ppt/notesSlides/notesSlide5.xml" Id="Rcdfc3c7f832b4d0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Matthews Correlation Coefficient (MCC)</c:v>
          </c:tx>
          <c:spPr>
            <a:solidFill xmlns:a="http://schemas.openxmlformats.org/drawingml/2006/main">
              <a:srgbClr val="1D4ED8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UNSW-NB15 validation</c:v>
                </c:pt>
                <c:pt idx="1">
                  <c:v>UNSW-NB15 holdout</c:v>
                </c:pt>
                <c:pt idx="2">
                  <c:v>NF-ToN-IoT</c:v>
                </c:pt>
                <c:pt idx="3">
                  <c:v>NF-BoT-IoT</c:v>
                </c:pt>
                <c:pt idx="4">
                  <c:v>NF-CSE-CIC-IDS2018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0.890781</c:v>
                </c:pt>
                <c:pt idx="1">
                  <c:v>0.746241</c:v>
                </c:pt>
                <c:pt idx="2">
                  <c:v>-0.152427</c:v>
                </c:pt>
                <c:pt idx="3">
                  <c:v>-0.011702</c:v>
                </c:pt>
                <c:pt idx="4">
                  <c:v>0.125934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-0.2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991CF-C243-4D45-8438-552742CD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540D3-8FFD-405A-82B0-4AEAA96B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Intrusion detection with UNSW-NB15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AB807-9F46-485F-BD67-7E434560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8FD3E4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8FD3E4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8FD3E4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8FD3E4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8FD3E4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8FD3E4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8FD3E4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8FD3E4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8FD3E4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8FD3E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8FD3E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FD3E4"/>
                </a:solidFill>
                <a:latin typeface="Aptos"/>
                <a:ea typeface="Aptos"/>
                <a:cs typeface="Aptos"/>
              </a:rPr>
              <a:t>UNSW-NB15: University of New South Wales Network-Based 2015 dataset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1FF7D-122C-42F9-8F53-423C0A69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7F3"/>
                </a:solidFill>
                <a:latin typeface="Aptos"/>
                <a:ea typeface="Aptos"/>
                <a:cs typeface="Aptos"/>
              </a:rPr>
              <a:t>Progress update: generalisation audit and final submission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A1C64-6160-4818-A1A6-3EDFADB6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8FD3E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FD3E4"/>
                </a:solidFill>
                <a:latin typeface="Aptos"/>
                <a:ea typeface="Aptos"/>
                <a:cs typeface="Aptos"/>
              </a:rPr>
              <a:t>Thursday lecture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EB3EF-050F-46A0-933F-B9EBBC96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7F3"/>
                </a:solidFill>
                <a:latin typeface="Aptos"/>
                <a:ea typeface="Aptos"/>
                <a:cs typeface="Aptos"/>
              </a:rPr>
              <a:t>Research prototype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9D486-B5DB-4B5B-B271-04A0A4BD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150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defPPr>
            <a:lvl1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lvl1pPr>
            <a:lvl2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lvl2pPr>
            <a:lvl3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lvl3pPr>
            <a:lvl4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lvl4pPr>
            <a:lvl5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lvl5pPr>
            <a:lvl6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lvl6pPr>
            <a:lvl7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lvl7pPr>
            <a:lvl8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lvl8pPr>
            <a:lvl9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29 October 2026</a:t>
            </a:r>
          </a:p>
        </p:txBody>
      </p:sp>
    </p:spTree>
    <p:extLst>
      <p:ext uri="{BB962C8B-B14F-4D97-AF65-F5344CB8AC3E}">
        <p14:creationId xmlns:p14="http://schemas.microsoft.com/office/powerpoint/2010/main" val="97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BD13C-9485-4587-BAF0-168E07AA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PROJECT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5401A-2A66-4539-B715-4666E4E8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Completed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96868-47BC-40BC-BA16-D6CABFAA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F5F7A-6D2D-48AE-A5CF-5381585D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D9113-8DCB-49E6-9797-5DF9D801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14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Internal model and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A8662-7205-42FD-9B08-D121B71D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717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Leakage-controlled preprocessing, Logistic Regression baseline, Random Forest, threshold analysis, explainability and grouped uncertainty.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8E402-3963-4FC5-A74A-D2030615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146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CDDED-1D6F-492A-A92D-B81CA398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40CB7-6E82-4816-BD64-4C9BE007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956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Generalisation and shortcut audits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90B2C-9961-47BB-B58D-1649437C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52825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Time To Live (TTL) and endpoint removal, duplicate-aware splits, external transfer checks, attack-family recall and operational alert burden.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C5E03-7A60-40B0-8FE6-491DFD2F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95775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6EF25-47B2-4B4F-B2FD-FA4833EA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A9378-4DC4-43A2-9C5B-6C0D5A66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76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Registered improvement attempts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58754-17CF-4F13-ACAE-ACD1A2D9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33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Version 2 (V2) multidomain development and Version 3 (V3) group-balanced leave-one-domain-out evaluation, with fixed promotion gates.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D74D7C-EA8A-4D1D-BC21-82D13205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5787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27A48"/>
                </a:solidFill>
                <a:latin typeface="Aptos"/>
                <a:ea typeface="Aptos"/>
                <a:cs typeface="Aptos"/>
              </a:rPr>
              <a:t>101 automated tests pass. All completed steps are committed and pushed on the Version 3 branch.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0FF41-99F8-4EAD-A632-BA9E8780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8399"/>
                </a:solidFill>
                <a:latin typeface="Aptos"/>
                <a:ea typeface="Aptos"/>
                <a:cs typeface="Aptos"/>
              </a:rPr>
              <a:t>Applied Machine Learning research prototype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F1441-2D25-4683-AC6A-BD6116DC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839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3839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B8563-60DA-4C2D-BEB2-1F39AFA8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KEY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931B2-4CD3-45AC-A7B6-4193E607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Strong internal scores did not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DF5BD-7429-4B1D-8604-BC43B0F0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0745AA2-D383-4803-AB34-D8152088092D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ccaab6eddc44e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513AA-B140-48D7-922E-04FBDCCC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Internal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D092F-C03D-4878-976E-57C664DF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52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MCC 0.891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2B302-56ED-4152-A1FA-1F3FB0ED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90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MCC means Matthews Correlation Coefficient.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81EB0-DB32-4201-BE41-2053306F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09900"/>
            <a:ext cx="2714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High performance within UNSW-NB15.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BD7CD-2A3F-42A0-9FA4-664FBD39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38550"/>
            <a:ext cx="264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D5F37-48D9-4612-83E8-3794FA41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86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External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9081D-DEAC-48E8-A1D9-DEC47097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291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Recall 0.2%–15.4%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A2036-C2B9-4630-B620-C4F24B4E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Transfer performance collapsed across the external datasets.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11CDF-D492-401D-8C2A-46EE5895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NF means NetFlow. ToN-IoT means Telemetry of Network Internet of Things. BoT-IoT means Botnet Internet of Things.</a:t>
            </a:r>
          </a:p>
          <a:p xmlns:a="http://schemas.openxmlformats.org/drawingml/2006/main">
            <a:pPr algn="l">
              <a:defRPr sz="90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CSE-CIC-IDS2018 means Communications Security Establishment and Canadian Institute for Cybersecurity Intrusion Detection System 2018.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1D474-AC53-4158-8AC5-CF9542F0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8399"/>
                </a:solidFill>
                <a:latin typeface="Aptos"/>
                <a:ea typeface="Aptos"/>
                <a:cs typeface="Aptos"/>
              </a:rPr>
              <a:t>Applied Machine Learning research prototype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D2EB0-D6EC-4BB5-A532-D27D99C8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839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473815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6F262-E0FE-4A40-9FD0-43C8647C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EVIDENCE AND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D1961-9D74-49A5-81D4-F569A682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Version 3 clarified why generalisation failed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FF51B-2C33-42D2-BB29-4823784D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E67A1-ADFE-416E-903B-761E6AE8C23C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6858000" cy="2381250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95500"/>
                <a:gridCol w="1524000"/>
                <a:gridCol w="1333500"/>
                <a:gridCol w="1238250"/>
                <a:gridCol w="666750"/>
              </a:tblGrid>
              <a:tr h="595313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Version 3 candidate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Macro MCC</a:t>
                      </a:r>
                    </a:p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Matthews Correlation Coefficient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Worst BA</a:t>
                      </a:r>
                    </a:p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Balanced Accuracy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Max FPR</a:t>
                      </a:r>
                    </a:p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False Positive Rate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Eligible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02A43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Base LR</a:t>
                      </a:r>
                    </a:p>
                    <a:p>
                      <a:r>
                        <a:rPr sz="90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Logistic Regression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−0.081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0.308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95.9%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Derived LR</a:t>
                      </a:r>
                    </a:p>
                    <a:p>
                      <a:r>
                        <a:rPr sz="90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Logistic Regression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0.026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0.475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85.7%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Derived RF</a:t>
                      </a:r>
                    </a:p>
                    <a:p>
                      <a:r>
                        <a:rPr sz="90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Random Forest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−0.033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0.296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52.9%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No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AF9E6-1D82-4942-A83D-D604768C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the audit controlled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0967A-F462-4D33-BD0B-A69EC788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238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Time To Live (TTL) and endpoint shortcuts excluded</a:t>
            </a:r>
          </a:p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Source groups capped at 64 rows</a:t>
            </a:r>
          </a:p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Four leave-one-domain-out folds</a:t>
            </a:r>
          </a:p>
          <a:p xmlns:a="http://schemas.openxmlformats.org/drawingml/2006/main">
            <a:pPr algn="l">
              <a:defRPr sz="1350" b="0">
                <a:solidFill>
                  <a:srgbClr val="52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67A"/>
                </a:solidFill>
                <a:latin typeface="Aptos"/>
                <a:ea typeface="Aptos"/>
                <a:cs typeface="Aptos"/>
              </a:rPr>
              <a:t>• Thresholds selected on source data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25FBB-7E3B-4B74-BEF5-BF6C82BB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766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Main diagnosis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FCE31-37D3-46C8-A1B6-44E00E5D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Training-to-calibration gaps stayed near zero, but held-out Matthews Correlation Coefficient gaps reached 0.724–0.918.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889D0-99EB-4F89-A4F5-7793EB30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This pattern supports cross-domain and attack-composition shift as the dominant problem. Shortcut features and repeated traffic contributed to optimism, but removing them did not restore transfer.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A0A0E-8D0B-4BA9-8CA4-408632AD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721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Version 3 improved evaluation credibility, not deployment performance.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21B8E-58E1-491D-AEE1-26DCF39B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8399"/>
                </a:solidFill>
                <a:latin typeface="Aptos"/>
                <a:ea typeface="Aptos"/>
                <a:cs typeface="Aptos"/>
              </a:rPr>
              <a:t>Applied Machine Learning research prototype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2AE64-A961-4111-BA21-FD726043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839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45564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DFD1B-88FC-4C79-8B0D-B4B4AA58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REMAINING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173F5-B990-484B-82DC-7A0F2146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Final submission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C5A80-FB56-41AF-981E-32E47462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4303F-7A9B-4CE8-BA2B-1E3A3A21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27A4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27A48"/>
                </a:solidFill>
                <a:latin typeface="Aptos"/>
                <a:ea typeface="Aptos"/>
                <a:cs typeface="Aptos"/>
              </a:rPr>
              <a:t>Ready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A7A2D-F1D7-40FE-8899-068A19A6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857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• Reproducible research pipeline</a:t>
            </a:r>
          </a:p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• Internal and external evaluations</a:t>
            </a:r>
          </a:p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• Overfitting and shortcut audit</a:t>
            </a:r>
          </a:p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• Version 2 (V2) and Version 3 (V3) development results</a:t>
            </a:r>
          </a:p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• Final evidence package and Artificial Intelligence (AI) acknowledgement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181DB-2E60-41E8-A3C8-1B19FFB5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62125"/>
            <a:ext cx="2857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519E7-CE0C-412E-A659-AFDFF64D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Before submission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2F56F-21B7-497A-9FC5-60123F79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1. Update the final report and presentation narrative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2. Label previously used test evidence as exploratory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3. Explain distribution and attack-composition shift with the recorded metrics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4. Proofread, check references and export submission files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5. Merge or tag the final Git branch after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43D64-BB56-40C0-B872-D0DB786B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Final position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F7858-1586-45BF-9981-B7818A06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project delivers a transparent research prototype and a defensible negative generalisation result. No model should be presented as deployment-ready.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908E3-A911-488C-968E-9B0BBAB5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8399"/>
                </a:solidFill>
                <a:latin typeface="Aptos"/>
                <a:ea typeface="Aptos"/>
                <a:cs typeface="Aptos"/>
              </a:rPr>
              <a:t>Applied Machine Learning research prototype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E70BF-A263-4F80-B561-7ED3DD1D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283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2839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83660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2026-10-28T13:34:21.0800000Z</dcterms:created>
  <dcterms:modified xsi:type="dcterms:W3CDTF">2026-10-28T13:34:21.0800000Z</dcterms:modified>
</coreProperties>
</file>