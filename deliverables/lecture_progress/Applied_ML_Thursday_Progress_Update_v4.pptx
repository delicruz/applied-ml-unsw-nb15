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4f52209ab44e3e" /><Relationship Type="http://schemas.openxmlformats.org/officeDocument/2006/relationships/extended-properties" Target="/docProps/app.xml" Id="R5d9b0038754549a4" /><Relationship Type="http://schemas.openxmlformats.org/officeDocument/2006/relationships/officeDocument" Target="/ppt/presentation.xml" Id="Rc4e50891f38a42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0f88105243428e"/>
  </p:sldMasterIdLst>
  <p:notesMasterIdLst>
    <p:notesMasterId xmlns:r="http://schemas.openxmlformats.org/officeDocument/2006/relationships" r:id="Re8ded47007c2475d"/>
  </p:notesMasterIdLst>
  <p:sldIdLst>
    <p:sldId xmlns:r="http://schemas.openxmlformats.org/officeDocument/2006/relationships" id="256" r:id="Rc7a09fe05f6842b7"/>
    <p:sldId xmlns:r="http://schemas.openxmlformats.org/officeDocument/2006/relationships" id="257" r:id="R4bfe5148ce404865"/>
    <p:sldId xmlns:r="http://schemas.openxmlformats.org/officeDocument/2006/relationships" id="258" r:id="Rf0c00c1692d8459d"/>
    <p:sldId xmlns:r="http://schemas.openxmlformats.org/officeDocument/2006/relationships" id="259" r:id="Ra5e28066ef1543ee"/>
    <p:sldId xmlns:r="http://schemas.openxmlformats.org/officeDocument/2006/relationships" id="260" r:id="R44c8433757d84d2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84902902704cd7" /><Relationship Type="http://schemas.openxmlformats.org/officeDocument/2006/relationships/slideMaster" Target="/ppt/slideMasters/slideMaster1.xml" Id="R1d0f88105243428e" /><Relationship Type="http://schemas.openxmlformats.org/officeDocument/2006/relationships/notesMaster" Target="/ppt/notesMasters/notesMaster1.xml" Id="Re8ded47007c2475d" /><Relationship Type="http://schemas.openxmlformats.org/officeDocument/2006/relationships/presProps" Target="/ppt/presProps.xml" Id="R79e60cdfd3d94038" /><Relationship Type="http://schemas.openxmlformats.org/officeDocument/2006/relationships/tableStyles" Target="/ppt/tableStyles.xml" Id="Rd2d1fa437d21430f" /><Relationship Type="http://schemas.openxmlformats.org/officeDocument/2006/relationships/slide" Target="/ppt/slides/slide1.xml" Id="Rc7a09fe05f6842b7" /><Relationship Type="http://schemas.openxmlformats.org/officeDocument/2006/relationships/slide" Target="/ppt/slides/slide2.xml" Id="R4bfe5148ce404865" /><Relationship Type="http://schemas.openxmlformats.org/officeDocument/2006/relationships/slide" Target="/ppt/slides/slide3.xml" Id="Rf0c00c1692d8459d" /><Relationship Type="http://schemas.openxmlformats.org/officeDocument/2006/relationships/slide" Target="/ppt/slides/slide4.xml" Id="Ra5e28066ef1543ee" /><Relationship Type="http://schemas.openxmlformats.org/officeDocument/2006/relationships/slide" Target="/ppt/slides/slide5.xml" Id="R44c8433757d84d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ce625d8e6e44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08393f38d343c2" /><Relationship Type="http://schemas.openxmlformats.org/officeDocument/2006/relationships/notesMaster" Target="/ppt/notesMasters/notesMaster1.xml" Id="Rcb4815dbbdbb4d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a79867d0f34bae" /><Relationship Type="http://schemas.openxmlformats.org/officeDocument/2006/relationships/notesMaster" Target="/ppt/notesMasters/notesMaster1.xml" Id="R2e172555467d4b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166d370afe43b8" /><Relationship Type="http://schemas.openxmlformats.org/officeDocument/2006/relationships/notesMaster" Target="/ppt/notesMasters/notesMaster1.xml" Id="R43801a3ea2824a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98ea3cde71e410b" /><Relationship Type="http://schemas.openxmlformats.org/officeDocument/2006/relationships/notesMaster" Target="/ppt/notesMasters/notesMaster1.xml" Id="R0129777a568c4fb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24ab771634144c8" /><Relationship Type="http://schemas.openxmlformats.org/officeDocument/2006/relationships/notesMaster" Target="/ppt/notesMasters/notesMaster1.xml" Id="Ra54ab0a7d7e546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give a concise status update for the Thursday lecture. The project is complete as a research prototype, but no cross-domain model has been selected. Source: deliverables/final_research_prototype/Project_Final_Status.md.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Completed features include ingestion, audit, grouped splitting, source-only preprocessing, model baselines, threshold selection, explainability, overfitting diagnostics, shortcut removal, external transfer checks, and V2/V3 development. Source: deliverables/final_research_prototype/Project_Final_Status.md.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no-TTL Random Forest achieved validation MCC 0.890781 and conservative UNSW holdout MCC 0.746241. Frozen external transfer produced MCC -0.152427 on NF-ToN and -0.011702 on NF-BoT. The NF-CSE result was MCC 0.125934. Treat previously used external/test results as exploratory. Source: deliverables/final_research_prototype/Key_Results.csv.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V3 used four previously opened domains, so it is development evidence rather than a fresh test. Group capping worked, and the derived LR improved over the matched V3 reference, but all candidates failed absolute gates. Source: deliverables/v3_research_prototype/V3_Group_Balanced_Development_Result.md.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lecturer feedback accepts a transparent failure to generalise as a valuable result. No new data or further tuning is required. If any previously used test set is evaluated again, label the result exploratory and avoid making a new confirmatory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613b527a7a41b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de3ad4150f4d6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ed1a6ecb0b46c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ff4f60523c4b6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057c4906cd4c2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c400490aea44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C8107C5-9644-468C-B159-19589C360F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394416F-163E-4EC4-BADA-B3D91BE737C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29D8F3E-D78C-4D7A-B7E1-E925475361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99901B9-7C01-4DA5-8772-662B3FC932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82496D6-E8F3-4DE4-8A3A-4455972663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3277648-09E0-4240-8DED-CA93E6FF42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FDD3D28-5633-4D54-AF01-0B724102EA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BAE6193-16B3-4767-9B75-46A34982CA7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52B2B5D-CF06-4886-8825-2E9DE06F95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AEA5B1C-AA6F-4B38-A429-15F8702F4C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93b892fbf947ae" /><Relationship Type="http://schemas.openxmlformats.org/officeDocument/2006/relationships/slideLayout" Target="/ppt/slideLayouts/slideLayout1.xml" Id="Rf4b13cbb7fee4d25" /><Relationship Type="http://schemas.openxmlformats.org/officeDocument/2006/relationships/slideLayout" Target="/ppt/slideLayouts/slideLayout2.xml" Id="Re109b47d718b44a2" /><Relationship Type="http://schemas.openxmlformats.org/officeDocument/2006/relationships/slideLayout" Target="/ppt/slideLayouts/slideLayout3.xml" Id="R6fe56a5b9b6a445e" /><Relationship Type="http://schemas.openxmlformats.org/officeDocument/2006/relationships/slideLayout" Target="/ppt/slideLayouts/slideLayout4.xml" Id="Rd0c77df568684174" /><Relationship Type="http://schemas.openxmlformats.org/officeDocument/2006/relationships/slideLayout" Target="/ppt/slideLayouts/slideLayout5.xml" Id="R3676e3b7d8c044f5" /><Relationship Type="http://schemas.openxmlformats.org/officeDocument/2006/relationships/slideLayout" Target="/ppt/slideLayouts/slideLayout6.xml" Id="R7709409826f14c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b13cbb7fee4d25"/>
    <p:sldLayoutId xmlns:r="http://schemas.openxmlformats.org/officeDocument/2006/relationships" id="2147483650" r:id="Re109b47d718b44a2"/>
    <p:sldLayoutId xmlns:r="http://schemas.openxmlformats.org/officeDocument/2006/relationships" id="2147483651" r:id="R6fe56a5b9b6a445e"/>
    <p:sldLayoutId xmlns:r="http://schemas.openxmlformats.org/officeDocument/2006/relationships" id="2147483652" r:id="Rd0c77df568684174"/>
    <p:sldLayoutId xmlns:r="http://schemas.openxmlformats.org/officeDocument/2006/relationships" id="2147483653" r:id="R3676e3b7d8c044f5"/>
    <p:sldLayoutId xmlns:r="http://schemas.openxmlformats.org/officeDocument/2006/relationships" id="2147483654" r:id="R7709409826f14c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fd4ee1e37f49b2" /><Relationship Type="http://schemas.openxmlformats.org/officeDocument/2006/relationships/notesSlide" Target="/ppt/notesSlides/notesSlide1.xml" Id="R54eea8bd64fa43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7fd7574d2c4a1d" /><Relationship Type="http://schemas.openxmlformats.org/officeDocument/2006/relationships/notesSlide" Target="/ppt/notesSlides/notesSlide2.xml" Id="Reef6ff22256c4b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129a3773d44680" /><Relationship Type="http://schemas.openxmlformats.org/officeDocument/2006/relationships/chart" Target="/ppt/slides/charts/chart1.xml" Id="Rf9434b1928af47fa" /><Relationship Type="http://schemas.openxmlformats.org/officeDocument/2006/relationships/notesSlide" Target="/ppt/notesSlides/notesSlide3.xml" Id="Recc97e15e18444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166cac63034222" /><Relationship Type="http://schemas.openxmlformats.org/officeDocument/2006/relationships/notesSlide" Target="/ppt/notesSlides/notesSlide4.xml" Id="R399e0eabc53549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e026a62bb54325" /><Relationship Type="http://schemas.openxmlformats.org/officeDocument/2006/relationships/notesSlide" Target="/ppt/notesSlides/notesSlide5.xml" Id="Rddb3b8ee45ff48e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MCC</c:v>
          </c:tx>
          <c:spPr>
            <a:solidFill xmlns:a="http://schemas.openxmlformats.org/drawingml/2006/main">
              <a:srgbClr val="1D4ED8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UNSW validation</c:v>
                </c:pt>
                <c:pt idx="1">
                  <c:v>UNSW holdout</c:v>
                </c:pt>
                <c:pt idx="2">
                  <c:v>NF-ToN</c:v>
                </c:pt>
                <c:pt idx="3">
                  <c:v>NF-BoT</c:v>
                </c:pt>
                <c:pt idx="4">
                  <c:v>NF-CSE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0.890781</c:v>
                </c:pt>
                <c:pt idx="1">
                  <c:v>0.746241</c:v>
                </c:pt>
                <c:pt idx="2">
                  <c:v>-0.152427</c:v>
                </c:pt>
                <c:pt idx="3">
                  <c:v>-0.011702</c:v>
                </c:pt>
                <c:pt idx="4">
                  <c:v>0.125934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-0.25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0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A4D483-FF7F-413E-AE0C-076C3E65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47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674501-80F2-4816-9AFC-664A6E8F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UNSW-NB15 intrusion detection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745A7E-7285-45AA-9E80-38EF85E8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8191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950" b="0">
                <a:solidFill>
                  <a:srgbClr val="D9E7F3"/>
                </a:solidFill>
                <a:latin typeface="Aptos"/>
                <a:ea typeface="Aptos"/>
                <a:cs typeface="Aptos"/>
              </a:defRPr>
            </a:defPPr>
            <a:lvl1pPr algn="l">
              <a:defRPr sz="1950" b="0">
                <a:solidFill>
                  <a:srgbClr val="D9E7F3"/>
                </a:solidFill>
                <a:latin typeface="Aptos"/>
                <a:ea typeface="Aptos"/>
                <a:cs typeface="Aptos"/>
              </a:defRPr>
            </a:lvl1pPr>
            <a:lvl2pPr algn="l">
              <a:defRPr sz="1950" b="0">
                <a:solidFill>
                  <a:srgbClr val="D9E7F3"/>
                </a:solidFill>
                <a:latin typeface="Aptos"/>
                <a:ea typeface="Aptos"/>
                <a:cs typeface="Aptos"/>
              </a:defRPr>
            </a:lvl2pPr>
            <a:lvl3pPr algn="l">
              <a:defRPr sz="1950" b="0">
                <a:solidFill>
                  <a:srgbClr val="D9E7F3"/>
                </a:solidFill>
                <a:latin typeface="Aptos"/>
                <a:ea typeface="Aptos"/>
                <a:cs typeface="Aptos"/>
              </a:defRPr>
            </a:lvl3pPr>
            <a:lvl4pPr algn="l">
              <a:defRPr sz="1950" b="0">
                <a:solidFill>
                  <a:srgbClr val="D9E7F3"/>
                </a:solidFill>
                <a:latin typeface="Aptos"/>
                <a:ea typeface="Aptos"/>
                <a:cs typeface="Aptos"/>
              </a:defRPr>
            </a:lvl4pPr>
            <a:lvl5pPr algn="l">
              <a:defRPr sz="1950" b="0">
                <a:solidFill>
                  <a:srgbClr val="D9E7F3"/>
                </a:solidFill>
                <a:latin typeface="Aptos"/>
                <a:ea typeface="Aptos"/>
                <a:cs typeface="Aptos"/>
              </a:defRPr>
            </a:lvl5pPr>
            <a:lvl6pPr algn="l">
              <a:defRPr sz="1950" b="0">
                <a:solidFill>
                  <a:srgbClr val="D9E7F3"/>
                </a:solidFill>
                <a:latin typeface="Aptos"/>
                <a:ea typeface="Aptos"/>
                <a:cs typeface="Aptos"/>
              </a:defRPr>
            </a:lvl6pPr>
            <a:lvl7pPr algn="l">
              <a:defRPr sz="1950" b="0">
                <a:solidFill>
                  <a:srgbClr val="D9E7F3"/>
                </a:solidFill>
                <a:latin typeface="Aptos"/>
                <a:ea typeface="Aptos"/>
                <a:cs typeface="Aptos"/>
              </a:defRPr>
            </a:lvl7pPr>
            <a:lvl8pPr algn="l">
              <a:defRPr sz="1950" b="0">
                <a:solidFill>
                  <a:srgbClr val="D9E7F3"/>
                </a:solidFill>
                <a:latin typeface="Aptos"/>
                <a:ea typeface="Aptos"/>
                <a:cs typeface="Aptos"/>
              </a:defRPr>
            </a:lvl8pPr>
            <a:lvl9pPr algn="l">
              <a:defRPr sz="1950" b="0">
                <a:solidFill>
                  <a:srgbClr val="D9E7F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D9E7F3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D9E7F3"/>
                </a:solidFill>
                <a:latin typeface="Aptos"/>
                <a:ea typeface="Aptos"/>
                <a:cs typeface="Aptos"/>
              </a:rPr>
              <a:t>Progress update: generalisation audit and final submission plan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5A7F81-6954-4733-8E91-17D8F24F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>
                <a:solidFill>
                  <a:srgbClr val="8FD3E4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1">
                <a:solidFill>
                  <a:srgbClr val="8FD3E4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1">
                <a:solidFill>
                  <a:srgbClr val="8FD3E4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1">
                <a:solidFill>
                  <a:srgbClr val="8FD3E4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1">
                <a:solidFill>
                  <a:srgbClr val="8FD3E4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1">
                <a:solidFill>
                  <a:srgbClr val="8FD3E4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1">
                <a:solidFill>
                  <a:srgbClr val="8FD3E4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1">
                <a:solidFill>
                  <a:srgbClr val="8FD3E4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1">
                <a:solidFill>
                  <a:srgbClr val="8FD3E4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1">
                <a:solidFill>
                  <a:srgbClr val="8FD3E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8FD3E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8FD3E4"/>
                </a:solidFill>
                <a:latin typeface="Aptos"/>
                <a:ea typeface="Aptos"/>
                <a:cs typeface="Aptos"/>
              </a:rPr>
              <a:t>Thursday lecture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F247D8-B07A-4898-B464-3203FACD7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D9E7F3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>
                <a:solidFill>
                  <a:srgbClr val="D9E7F3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>
                <a:solidFill>
                  <a:srgbClr val="D9E7F3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>
                <a:solidFill>
                  <a:srgbClr val="D9E7F3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>
                <a:solidFill>
                  <a:srgbClr val="D9E7F3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>
                <a:solidFill>
                  <a:srgbClr val="D9E7F3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>
                <a:solidFill>
                  <a:srgbClr val="D9E7F3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>
                <a:solidFill>
                  <a:srgbClr val="D9E7F3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>
                <a:solidFill>
                  <a:srgbClr val="D9E7F3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>
                <a:solidFill>
                  <a:srgbClr val="D9E7F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D9E7F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9E7F3"/>
                </a:solidFill>
                <a:latin typeface="Aptos"/>
                <a:ea typeface="Aptos"/>
                <a:cs typeface="Aptos"/>
              </a:rPr>
              <a:t>Research prototype status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6B53FF-C74B-4E4D-A8CE-66E8ABA2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11505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050" b="0">
                <a:solidFill>
                  <a:srgbClr val="9FB3C8"/>
                </a:solidFill>
                <a:latin typeface="Aptos"/>
                <a:ea typeface="Aptos"/>
                <a:cs typeface="Aptos"/>
              </a:defRPr>
            </a:defPPr>
            <a:lvl1pPr algn="r">
              <a:defRPr sz="1050" b="0">
                <a:solidFill>
                  <a:srgbClr val="9FB3C8"/>
                </a:solidFill>
                <a:latin typeface="Aptos"/>
                <a:ea typeface="Aptos"/>
                <a:cs typeface="Aptos"/>
              </a:defRPr>
            </a:lvl1pPr>
            <a:lvl2pPr algn="r">
              <a:defRPr sz="1050" b="0">
                <a:solidFill>
                  <a:srgbClr val="9FB3C8"/>
                </a:solidFill>
                <a:latin typeface="Aptos"/>
                <a:ea typeface="Aptos"/>
                <a:cs typeface="Aptos"/>
              </a:defRPr>
            </a:lvl2pPr>
            <a:lvl3pPr algn="r">
              <a:defRPr sz="1050" b="0">
                <a:solidFill>
                  <a:srgbClr val="9FB3C8"/>
                </a:solidFill>
                <a:latin typeface="Aptos"/>
                <a:ea typeface="Aptos"/>
                <a:cs typeface="Aptos"/>
              </a:defRPr>
            </a:lvl3pPr>
            <a:lvl4pPr algn="r">
              <a:defRPr sz="1050" b="0">
                <a:solidFill>
                  <a:srgbClr val="9FB3C8"/>
                </a:solidFill>
                <a:latin typeface="Aptos"/>
                <a:ea typeface="Aptos"/>
                <a:cs typeface="Aptos"/>
              </a:defRPr>
            </a:lvl4pPr>
            <a:lvl5pPr algn="r">
              <a:defRPr sz="1050" b="0">
                <a:solidFill>
                  <a:srgbClr val="9FB3C8"/>
                </a:solidFill>
                <a:latin typeface="Aptos"/>
                <a:ea typeface="Aptos"/>
                <a:cs typeface="Aptos"/>
              </a:defRPr>
            </a:lvl5pPr>
            <a:lvl6pPr algn="r">
              <a:defRPr sz="1050" b="0">
                <a:solidFill>
                  <a:srgbClr val="9FB3C8"/>
                </a:solidFill>
                <a:latin typeface="Aptos"/>
                <a:ea typeface="Aptos"/>
                <a:cs typeface="Aptos"/>
              </a:defRPr>
            </a:lvl6pPr>
            <a:lvl7pPr algn="r">
              <a:defRPr sz="1050" b="0">
                <a:solidFill>
                  <a:srgbClr val="9FB3C8"/>
                </a:solidFill>
                <a:latin typeface="Aptos"/>
                <a:ea typeface="Aptos"/>
                <a:cs typeface="Aptos"/>
              </a:defRPr>
            </a:lvl7pPr>
            <a:lvl8pPr algn="r">
              <a:defRPr sz="1050" b="0">
                <a:solidFill>
                  <a:srgbClr val="9FB3C8"/>
                </a:solidFill>
                <a:latin typeface="Aptos"/>
                <a:ea typeface="Aptos"/>
                <a:cs typeface="Aptos"/>
              </a:defRPr>
            </a:lvl8pPr>
            <a:lvl9pPr algn="r">
              <a:defRPr sz="1050" b="0">
                <a:solidFill>
                  <a:srgbClr val="9FB3C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9FB3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FB3C8"/>
                </a:solidFill>
                <a:latin typeface="Aptos"/>
                <a:ea typeface="Aptos"/>
                <a:cs typeface="Aptos"/>
              </a:rPr>
              <a:t>27 October 2026</a:t>
            </a:r>
          </a:p>
        </p:txBody>
      </p:sp>
    </p:spTree>
    <p:extLst>
      <p:ext uri="{BB962C8B-B14F-4D97-AF65-F5344CB8AC3E}">
        <p14:creationId xmlns:p14="http://schemas.microsoft.com/office/powerpoint/2010/main" val="3812891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C406FE-F76A-4E27-A68F-9A6E9BE6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PROJECT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828C12-A40B-4B68-BB27-CE9F035A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  <a:lvl1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1pPr>
            <a:lvl2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2pPr>
            <a:lvl3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3pPr>
            <a:lvl4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4pPr>
            <a:lvl5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5pPr>
            <a:lvl6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6pPr>
            <a:lvl7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7pPr>
            <a:lvl8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8pPr>
            <a:lvl9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Completed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3FB6C9-6106-4089-9ADC-5C90A866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C3A9FA-BD15-4135-BDAB-64DF6913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defPPr>
            <a:lvl1pPr algn="l">
              <a:defRPr sz="20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1pPr>
            <a:lvl2pPr algn="l">
              <a:defRPr sz="20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2pPr>
            <a:lvl3pPr algn="l">
              <a:defRPr sz="20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3pPr>
            <a:lvl4pPr algn="l">
              <a:defRPr sz="20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4pPr>
            <a:lvl5pPr algn="l">
              <a:defRPr sz="20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5pPr>
            <a:lvl6pPr algn="l">
              <a:defRPr sz="20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6pPr>
            <a:lvl7pPr algn="l">
              <a:defRPr sz="20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7pPr>
            <a:lvl8pPr algn="l">
              <a:defRPr sz="20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8pPr>
            <a:lvl9pPr algn="l">
              <a:defRPr sz="20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894640-C288-49D9-86C3-40E090CC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7145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Internal model and controls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52E23C-E761-456E-9114-2086FDF8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17170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Leakage-controlled preprocessing, Logistic Regression baseline, Random Forest, threshold analysis, explainability and grouped uncertainty.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229F1A-45EA-4160-B1E5-43315815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914650"/>
            <a:ext cx="895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F9AA1C-4D9E-4729-A9A2-280F897FD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defPPr>
            <a:lvl1pPr algn="l">
              <a:defRPr sz="20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1pPr>
            <a:lvl2pPr algn="l">
              <a:defRPr sz="20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2pPr>
            <a:lvl3pPr algn="l">
              <a:defRPr sz="20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3pPr>
            <a:lvl4pPr algn="l">
              <a:defRPr sz="20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4pPr>
            <a:lvl5pPr algn="l">
              <a:defRPr sz="20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5pPr>
            <a:lvl6pPr algn="l">
              <a:defRPr sz="20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6pPr>
            <a:lvl7pPr algn="l">
              <a:defRPr sz="20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7pPr>
            <a:lvl8pPr algn="l">
              <a:defRPr sz="20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8pPr>
            <a:lvl9pPr algn="l">
              <a:defRPr sz="20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0E6BC3-4520-4E00-973A-691D4B3F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9562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Generalisation and shortcut audits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24B31C-020F-4B9E-BBBA-958969CB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552825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TTL and endpoint removal, duplicate-aware splits, external transfer checks, attack-family recall and operational alert burden.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CD4983-B2E4-4000-BFF9-74AF3CED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295775"/>
            <a:ext cx="895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763E6A-0855-408C-8E2A-5D328C60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defPPr>
            <a:lvl1pPr algn="l">
              <a:defRPr sz="20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1pPr>
            <a:lvl2pPr algn="l">
              <a:defRPr sz="20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2pPr>
            <a:lvl3pPr algn="l">
              <a:defRPr sz="20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3pPr>
            <a:lvl4pPr algn="l">
              <a:defRPr sz="20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4pPr>
            <a:lvl5pPr algn="l">
              <a:defRPr sz="20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5pPr>
            <a:lvl6pPr algn="l">
              <a:defRPr sz="20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6pPr>
            <a:lvl7pPr algn="l">
              <a:defRPr sz="20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7pPr>
            <a:lvl8pPr algn="l">
              <a:defRPr sz="20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8pPr>
            <a:lvl9pPr algn="l">
              <a:defRPr sz="20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252E00-DEDF-4693-8E45-9E184CD42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476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Registered improvement attempts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23BDCE-B149-4D89-8C6E-D3B402EC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93395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V2 multidomain development and V3 group-balanced leave-one-domain-out evaluation, with fixed promotion gates.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F2C516-85FE-4A1C-94B0-8F6757E1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857875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027A48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1">
                <a:solidFill>
                  <a:srgbClr val="027A48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1">
                <a:solidFill>
                  <a:srgbClr val="027A48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1">
                <a:solidFill>
                  <a:srgbClr val="027A48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1">
                <a:solidFill>
                  <a:srgbClr val="027A48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1">
                <a:solidFill>
                  <a:srgbClr val="027A48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1">
                <a:solidFill>
                  <a:srgbClr val="027A48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1">
                <a:solidFill>
                  <a:srgbClr val="027A48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1">
                <a:solidFill>
                  <a:srgbClr val="027A48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1">
                <a:solidFill>
                  <a:srgbClr val="027A4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27A4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27A48"/>
                </a:solidFill>
                <a:latin typeface="Aptos"/>
                <a:ea typeface="Aptos"/>
                <a:cs typeface="Aptos"/>
              </a:rPr>
              <a:t>101 automated tests pass. All completed steps are committed and pushed on the V3 branch.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855B0F-21AD-4A70-9FD0-056E229C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defPPr>
            <a:lvl1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1pPr>
            <a:lvl2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2pPr>
            <a:lvl3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3pPr>
            <a:lvl4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4pPr>
            <a:lvl5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5pPr>
            <a:lvl6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6pPr>
            <a:lvl7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7pPr>
            <a:lvl8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8pPr>
            <a:lvl9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28399"/>
                </a:solidFill>
                <a:latin typeface="Aptos"/>
                <a:ea typeface="Aptos"/>
                <a:cs typeface="Aptos"/>
              </a:rPr>
              <a:t>Applied ML research prototype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C5F1C4-D40B-4C15-917F-FF1A1D62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defPPr>
            <a:lvl1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1pPr>
            <a:lvl2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2pPr>
            <a:lvl3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3pPr>
            <a:lvl4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4pPr>
            <a:lvl5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5pPr>
            <a:lvl6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6pPr>
            <a:lvl7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7pPr>
            <a:lvl8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8pPr>
            <a:lvl9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28399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700268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3C7A9B-50F8-4583-9631-2E0CC5CE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KEY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F1B210-B6C2-45CB-B8C4-A0346D74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  <a:lvl1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1pPr>
            <a:lvl2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2pPr>
            <a:lvl3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3pPr>
            <a:lvl4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4pPr>
            <a:lvl5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5pPr>
            <a:lvl6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6pPr>
            <a:lvl7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7pPr>
            <a:lvl8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8pPr>
            <a:lvl9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Strong internal scores did not transfer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3A93DB-6F6F-434B-A737-267A15D7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AA8B277F-3376-4543-90C7-A9C725DFA2A6}"/>
              </a:ext>
            </a:extLst>
          </p:cNvPr>
          <p:cNvGraphicFramePr/>
          <p:nvPr/>
        </p:nvGraphicFramePr>
        <p:xfrm>
          <a:off xmlns:a="http://schemas.openxmlformats.org/drawingml/2006/main" x="666750" y="1714500"/>
          <a:ext xmlns:a="http://schemas.openxmlformats.org/drawingml/2006/main" cx="7239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9434b1928af47fa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98B0F2-0BD2-4633-8680-A9F7BC1C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809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Internal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AEAD16-4670-48DA-A496-56A3B629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1526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  <a:lvl1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1pPr>
            <a:lvl2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2pPr>
            <a:lvl3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3pPr>
            <a:lvl4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4pPr>
            <a:lvl5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5pPr>
            <a:lvl6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6pPr>
            <a:lvl7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7pPr>
            <a:lvl8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8pPr>
            <a:lvl9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MCC 0.891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B41EB7-8CA6-412D-A940-1CDCD8DB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733675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High performance within UNSW-NB15.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66921E-81F2-4635-817B-F8CA4366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476625"/>
            <a:ext cx="2647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6AEDA0-9305-4A95-A215-3B9C7B9E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7338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External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7BE681-804B-4502-8853-4808FB7CD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07670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defPPr>
            <a:lvl1pPr algn="l">
              <a:defRPr sz="21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lvl1pPr>
            <a:lvl2pPr algn="l">
              <a:defRPr sz="21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lvl2pPr>
            <a:lvl3pPr algn="l">
              <a:defRPr sz="21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lvl3pPr>
            <a:lvl4pPr algn="l">
              <a:defRPr sz="21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lvl4pPr>
            <a:lvl5pPr algn="l">
              <a:defRPr sz="21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lvl5pPr>
            <a:lvl6pPr algn="l">
              <a:defRPr sz="21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lvl6pPr>
            <a:lvl7pPr algn="l">
              <a:defRPr sz="21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lvl7pPr>
            <a:lvl8pPr algn="l">
              <a:defRPr sz="21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lvl8pPr>
            <a:lvl9pPr algn="l">
              <a:defRPr sz="21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Recall 0.2%–15.4%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501984-95FC-458D-90CB-0BA8AA8A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67250"/>
            <a:ext cx="2714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Transfer performance collapsed across ToN, BoT and CSE datasets.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6052C1-E1DA-4BB9-B59C-873A99CB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MCC measures agreement beyond chance. Values near or below zero indicate little useful classification.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818145-5CCE-4AD9-94F8-01DBDEAA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defPPr>
            <a:lvl1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1pPr>
            <a:lvl2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2pPr>
            <a:lvl3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3pPr>
            <a:lvl4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4pPr>
            <a:lvl5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5pPr>
            <a:lvl6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6pPr>
            <a:lvl7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7pPr>
            <a:lvl8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8pPr>
            <a:lvl9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28399"/>
                </a:solidFill>
                <a:latin typeface="Aptos"/>
                <a:ea typeface="Aptos"/>
                <a:cs typeface="Aptos"/>
              </a:rPr>
              <a:t>Applied ML research prototype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500AF8-6B61-4674-927A-F1342EA3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defPPr>
            <a:lvl1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1pPr>
            <a:lvl2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2pPr>
            <a:lvl3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3pPr>
            <a:lvl4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4pPr>
            <a:lvl5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5pPr>
            <a:lvl6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6pPr>
            <a:lvl7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7pPr>
            <a:lvl8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8pPr>
            <a:lvl9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28399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189776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B0A9A5-D708-4F47-AD06-E6A44938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EVIDENCE AND INTERPRETATION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48FE3C-AB01-49A8-AAF5-43646E67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  <a:lvl1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1pPr>
            <a:lvl2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2pPr>
            <a:lvl3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3pPr>
            <a:lvl4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4pPr>
            <a:lvl5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5pPr>
            <a:lvl6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6pPr>
            <a:lvl7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7pPr>
            <a:lvl8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8pPr>
            <a:lvl9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V3 clarified why generalisation failed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AC3F5B-246E-43EA-9101-DFA1A570E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D1E951-087A-4461-9950-D45F7B32C5C6}"/>
              </a:ext>
            </a:extLst>
          </p:cNvPr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6858000" cy="2381250"/>
        </p:xfrm>
        <a:graphic xmlns:a="http://schemas.openxmlformats.org/drawingml/2006/main"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33625"/>
                <a:gridCol w="1190625"/>
                <a:gridCol w="1190625"/>
                <a:gridCol w="1190625"/>
                <a:gridCol w="952500"/>
              </a:tblGrid>
              <a:tr h="595313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V3 candidate</a:t>
                      </a:r>
                    </a:p>
                  </a:txBody>
                  <a:tcPr marL="91440" marR="91440" marT="45720" marB="45720">
                    <a:lnB w="9525">
                      <a:solidFill>
                        <a:srgbClr val="FFFFFF"/>
                      </a:solidFill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Macro MCC</a:t>
                      </a:r>
                    </a:p>
                  </a:txBody>
                  <a:tcPr marL="91440" marR="91440" marT="45720" marB="45720">
                    <a:lnB w="9525">
                      <a:solidFill>
                        <a:srgbClr val="FFFFFF"/>
                      </a:solidFill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Worst BA</a:t>
                      </a:r>
                    </a:p>
                  </a:txBody>
                  <a:tcPr marL="91440" marR="91440" marT="45720" marB="45720">
                    <a:lnB w="9525">
                      <a:solidFill>
                        <a:srgbClr val="FFFFFF"/>
                      </a:solidFill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Max FPR</a:t>
                      </a:r>
                    </a:p>
                  </a:txBody>
                  <a:tcPr marL="91440" marR="91440" marT="45720" marB="45720">
                    <a:lnB w="9525">
                      <a:solidFill>
                        <a:srgbClr val="FFFFFF"/>
                      </a:solidFill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Eligible</a:t>
                      </a:r>
                    </a:p>
                  </a:txBody>
                  <a:tcPr marL="91440" marR="91440" marT="45720" marB="45720">
                    <a:lnB w="9525">
                      <a:solidFill>
                        <a:srgbClr val="FFFFFF"/>
                      </a:solidFill>
                    </a:lnB>
                    <a:solidFill>
                      <a:srgbClr val="102A43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Base LR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−0.081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0.308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95.9%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No</a:t>
                      </a:r>
                    </a:p>
                  </a:txBody>
                  <a:tcPr marL="91440" marR="91440" marT="45720" marB="45720"/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Derived LR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0.026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0.475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85.7%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No</a:t>
                      </a:r>
                    </a:p>
                  </a:txBody>
                  <a:tcPr marL="91440" marR="91440" marT="45720" marB="45720"/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Derived RF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−0.033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0.296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52.9%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No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9D594B-F5FC-42FE-9808-46EA8785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526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What the audit controlled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4EFAC4-C856-4678-85D0-56C892C7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3238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• TTL and endpoint shortcuts excluded</a:t>
            </a:r>
          </a:p>
          <a:p xmlns:a="http://schemas.openxmlformats.org/drawingml/2006/main">
            <a: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• Source groups capped at 64 rows</a:t>
            </a:r>
          </a:p>
          <a:p xmlns:a="http://schemas.openxmlformats.org/drawingml/2006/main">
            <a: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• Four leave-one-domain-out folds</a:t>
            </a:r>
          </a:p>
          <a:p xmlns:a="http://schemas.openxmlformats.org/drawingml/2006/main">
            <a: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• Thresholds selected on source data only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57F752-2FCC-4C07-884E-2EFAEAA5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766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Main diagnosis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BC48FA-806E-4A0B-9AE9-D7D52B6E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86250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defPPr>
            <a:lvl1pPr algn="l">
              <a:defRPr sz="142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lvl1pPr>
            <a:lvl2pPr algn="l">
              <a:defRPr sz="142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lvl2pPr>
            <a:lvl3pPr algn="l">
              <a:defRPr sz="142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lvl3pPr>
            <a:lvl4pPr algn="l">
              <a:defRPr sz="142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lvl4pPr>
            <a:lvl5pPr algn="l">
              <a:defRPr sz="142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lvl5pPr>
            <a:lvl6pPr algn="l">
              <a:defRPr sz="142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lvl6pPr>
            <a:lvl7pPr algn="l">
              <a:defRPr sz="142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lvl7pPr>
            <a:lvl8pPr algn="l">
              <a:defRPr sz="142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lvl8pPr>
            <a:lvl9pPr algn="l">
              <a:defRPr sz="142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Training-to-calibration gaps stayed near zero, but calibration-to-held-out MCC gaps reached 0.724–0.918.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68DF22-FEAD-4844-A739-E5035BD6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685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defPPr>
            <a:lvl1pPr algn="l">
              <a:defRPr sz="14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1pPr>
            <a:lvl2pPr algn="l">
              <a:defRPr sz="14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2pPr>
            <a:lvl3pPr algn="l">
              <a:defRPr sz="14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3pPr>
            <a:lvl4pPr algn="l">
              <a:defRPr sz="14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4pPr>
            <a:lvl5pPr algn="l">
              <a:defRPr sz="14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5pPr>
            <a:lvl6pPr algn="l">
              <a:defRPr sz="14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6pPr>
            <a:lvl7pPr algn="l">
              <a:defRPr sz="14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7pPr>
            <a:lvl8pPr algn="l">
              <a:defRPr sz="14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8pPr>
            <a:lvl9pPr algn="l">
              <a:defRPr sz="14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This pattern supports cross-domain and attack-composition shift as the dominant problem. Shortcut features and repeated traffic contributed to optimism, but removing them did not restore transfer.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635254-22F7-4006-93EB-6F12FDE4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72125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V3 improved evaluation credibility, not deployment performance.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F60DEC-28F6-4178-816C-FFA13935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defPPr>
            <a:lvl1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1pPr>
            <a:lvl2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2pPr>
            <a:lvl3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3pPr>
            <a:lvl4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4pPr>
            <a:lvl5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5pPr>
            <a:lvl6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6pPr>
            <a:lvl7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7pPr>
            <a:lvl8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8pPr>
            <a:lvl9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28399"/>
                </a:solidFill>
                <a:latin typeface="Aptos"/>
                <a:ea typeface="Aptos"/>
                <a:cs typeface="Aptos"/>
              </a:rPr>
              <a:t>Applied ML research prototype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FFC777-2B83-4F91-B676-543729D1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defPPr>
            <a:lvl1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1pPr>
            <a:lvl2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2pPr>
            <a:lvl3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3pPr>
            <a:lvl4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4pPr>
            <a:lvl5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5pPr>
            <a:lvl6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6pPr>
            <a:lvl7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7pPr>
            <a:lvl8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8pPr>
            <a:lvl9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28399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833707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C9907A-3A60-44E4-A89A-87FE16AF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REMAINING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78D104-D178-4FF6-9C85-49905005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  <a:lvl1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1pPr>
            <a:lvl2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2pPr>
            <a:lvl3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3pPr>
            <a:lvl4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4pPr>
            <a:lvl5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5pPr>
            <a:lvl6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6pPr>
            <a:lvl7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7pPr>
            <a:lvl8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8pPr>
            <a:lvl9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Final submission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7EFEF4-2EF9-48A3-B284-39451C3C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987361-2F99-40E3-A982-0D48484F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>
                <a:solidFill>
                  <a:srgbClr val="027A48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1">
                <a:solidFill>
                  <a:srgbClr val="027A48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1">
                <a:solidFill>
                  <a:srgbClr val="027A48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1">
                <a:solidFill>
                  <a:srgbClr val="027A48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1">
                <a:solidFill>
                  <a:srgbClr val="027A48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1">
                <a:solidFill>
                  <a:srgbClr val="027A48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1">
                <a:solidFill>
                  <a:srgbClr val="027A48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1">
                <a:solidFill>
                  <a:srgbClr val="027A48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1">
                <a:solidFill>
                  <a:srgbClr val="027A48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1">
                <a:solidFill>
                  <a:srgbClr val="027A4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27A4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27A48"/>
                </a:solidFill>
                <a:latin typeface="Aptos"/>
                <a:ea typeface="Aptos"/>
                <a:cs typeface="Aptos"/>
              </a:rPr>
              <a:t>Ready 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F6A885-4AEE-4351-99C8-6981ABAF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466725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• Reproducible research pipeline</a:t>
            </a:r>
          </a:p>
          <a:p xmlns:a="http://schemas.openxmlformats.org/drawingml/2006/main">
            <a:pPr algn="l">
              <a:defRPr sz="15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• Internal and external evaluations</a:t>
            </a:r>
          </a:p>
          <a:p xmlns:a="http://schemas.openxmlformats.org/drawingml/2006/main">
            <a:pPr algn="l">
              <a:defRPr sz="15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• Overfitting and shortcut audit</a:t>
            </a:r>
          </a:p>
          <a:p xmlns:a="http://schemas.openxmlformats.org/drawingml/2006/main">
            <a:pPr algn="l">
              <a:defRPr sz="15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• V2 and V3 registered development results</a:t>
            </a:r>
          </a:p>
          <a:p xmlns:a="http://schemas.openxmlformats.org/drawingml/2006/main">
            <a:pPr algn="l">
              <a:defRPr sz="15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• Final evidence package and AI-use acknowledgement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5210CB-6FB7-4E7B-973F-3E62356F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762125"/>
            <a:ext cx="28575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8DCD43-9E72-4B6A-BE99-4A5F8B22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621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Before submission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492A7D-C9E5-4464-A8EB-393E0DEC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4762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1. Update the final report and presentation narrative</a:t>
            </a:r>
          </a:p>
          <a:p xmlns:a="http://schemas.openxmlformats.org/drawingml/2006/main">
            <a:pPr algn="l">
              <a:defRPr sz="15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2. Label previously used test evidence as exploratory</a:t>
            </a:r>
          </a:p>
          <a:p xmlns:a="http://schemas.openxmlformats.org/drawingml/2006/main">
            <a:pPr algn="l">
              <a:defRPr sz="15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3. Explain distribution and attack-composition shift with the recorded metrics</a:t>
            </a:r>
          </a:p>
          <a:p xmlns:a="http://schemas.openxmlformats.org/drawingml/2006/main">
            <a:pPr algn="l">
              <a:defRPr sz="15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4. Proofread, check references and export submission files</a:t>
            </a:r>
          </a:p>
          <a:p xmlns:a="http://schemas.openxmlformats.org/drawingml/2006/main">
            <a:pPr algn="l">
              <a:defRPr sz="15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5. Merge or tag the final Git branch after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7D28EB-C51C-467A-8D43-E7AA72DF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Final position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73A39B-5FD1-4391-8D5A-B25E2E7C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project delivers a transparent research prototype and a defensible negative generalisation result. No model should be presented as deployment-ready.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A40E54-F162-467A-AF92-5464ACE8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defPPr>
            <a:lvl1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1pPr>
            <a:lvl2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2pPr>
            <a:lvl3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3pPr>
            <a:lvl4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4pPr>
            <a:lvl5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5pPr>
            <a:lvl6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6pPr>
            <a:lvl7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7pPr>
            <a:lvl8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8pPr>
            <a:lvl9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28399"/>
                </a:solidFill>
                <a:latin typeface="Aptos"/>
                <a:ea typeface="Aptos"/>
                <a:cs typeface="Aptos"/>
              </a:rPr>
              <a:t>Applied ML research prototype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213AA1-40C9-4A28-9044-F43CE672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defPPr>
            <a:lvl1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1pPr>
            <a:lvl2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2pPr>
            <a:lvl3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3pPr>
            <a:lvl4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4pPr>
            <a:lvl5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5pPr>
            <a:lvl6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6pPr>
            <a:lvl7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7pPr>
            <a:lvl8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8pPr>
            <a:lvl9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28399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8400119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2026-10-28T12:40:57.4950000Z</dcterms:created>
  <dcterms:modified xsi:type="dcterms:W3CDTF">2026-10-28T12:40:57.4950000Z</dcterms:modified>
</coreProperties>
</file>